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E0EB12-5F3B-4F6E-94E2-699B42C24EF6}" v="202" dt="2026-05-30T22:55:41.612"/>
    <p1510:client id="{FC29D936-F7ED-4E99-9388-8964BE84215A}" v="250" dt="2026-05-30T22:06:30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A1D3C-2B92-4AA8-A276-9D1BC47522B4}" type="datetimeFigureOut"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59B3D-DEE9-4CB9-B228-FFBADA3DF6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1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18288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49808"/>
            <a:ext cx="3657600" cy="18288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499616"/>
            <a:ext cx="3657600" cy="18288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96279"/>
            <a:ext cx="3657600" cy="18288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11556"/>
            <a:ext cx="3657600" cy="18288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84048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84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0058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Fraud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14630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19202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2743200" cy="18288"/>
          </a:xfrm>
          <a:prstGeom prst="rect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51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Integrity &amp; Transaction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Audit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337560"/>
            <a:ext cx="2880360" cy="868680"/>
          </a:xfrm>
          <a:prstGeom prst="rect">
            <a:avLst/>
          </a:prstGeom>
          <a:solidFill>
            <a:srgbClr val="162B52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19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36192" y="34381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3675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16,067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36192" y="36941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3931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36192" y="3950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4622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Bitrus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6542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Operations &amp; Payments Analyst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77640" y="475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Structure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77640" y="777240"/>
            <a:ext cx="484632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77640" y="960120"/>
            <a:ext cx="4828032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33088" y="10332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7720" y="10332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Overview &amp; Scale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33088" y="13258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 · TPV exposure · Transaction volume analysis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77640" y="1783080"/>
            <a:ext cx="4828032" cy="71323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33088" y="1856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17720" y="185623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33088" y="21488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 · Card type · Authentication · Geography · Merchant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977640" y="2606040"/>
            <a:ext cx="4828032" cy="71323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33088" y="26791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17720" y="26791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Investigation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33088" y="29718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effectiveness · High-risk transaction behavior · Decisioning gap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977640" y="3429000"/>
            <a:ext cx="4828032" cy="71323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33088" y="3502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17720" y="350215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Lifecycle Analysis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33088" y="379476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across cohort index · User acquisition quality · System-wide pattern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977640" y="4251960"/>
            <a:ext cx="4828032" cy="71323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33088" y="43251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17720" y="432511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Recommendations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77640" y="4727448"/>
            <a:ext cx="4828032" cy="219456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33088" y="463928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· Revenue integrity · Automation solutions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147149" y="4959757"/>
            <a:ext cx="4528868" cy="186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Dataset: 50,000 synthetic transactions · Tools: SQL, Power BI · Cohort &amp; segment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96782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02920" y="100756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Overview &amp;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200400" cy="18288"/>
          </a:xfrm>
          <a:prstGeom prst="rect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700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exposure · Revenue at risk · Transaction volume breakdown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784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FRAUD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 of All Transactions Are Fraudulent — A Systemic Problem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41248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07008"/>
            <a:ext cx="192024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3350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6072" y="184708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6072" y="206654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analyzed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1207008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207008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3350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16,067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87752" y="184708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87752" y="206654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 of total volume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207008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1207008"/>
            <a:ext cx="192024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13350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$4.97M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99432" y="184708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TPV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99432" y="206654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transaction value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46520" y="1207008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1207008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13350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$1.60M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611112" y="184708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TPV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11112" y="206654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 of total revenue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2578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FRAUD RATE BY TRANSACTION TYPE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11480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Withdrawal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0723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12,453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</a:p>
        </p:txBody>
      </p:sp>
      <p:sp>
        <p:nvSpPr>
          <p:cNvPr id="29" name="Shape 27"/>
          <p:cNvSpPr/>
          <p:nvPr/>
        </p:nvSpPr>
        <p:spPr>
          <a:xfrm>
            <a:off x="1490472" y="2889504"/>
            <a:ext cx="3840480" cy="2743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90472" y="2889504"/>
            <a:ext cx="124815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1780" y="2889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346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35478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12,452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490472" y="3364992"/>
            <a:ext cx="3840480" cy="2743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90472" y="3364992"/>
            <a:ext cx="123279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96418" y="3364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3822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40233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12,546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490472" y="3840480"/>
            <a:ext cx="3840480" cy="2743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90472" y="3840480"/>
            <a:ext cx="123279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96418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4297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447728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12,549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490472" y="4315968"/>
            <a:ext cx="3840480" cy="2743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90472" y="4315968"/>
            <a:ext cx="1221273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84897" y="4315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490472" y="4736592"/>
            <a:ext cx="384048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53312" y="47731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313432" y="47731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73552" y="47731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233672" y="47731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193792" y="47731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440680" y="2578608"/>
            <a:ext cx="3364992" cy="2331720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40680" y="2578608"/>
            <a:ext cx="54864" cy="2331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96128" y="268833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596128" y="2962656"/>
            <a:ext cx="2944368" cy="18288"/>
          </a:xfrm>
          <a:prstGeom prst="rect">
            <a:avLst/>
          </a:prstGeom>
          <a:solidFill>
            <a:srgbClr val="F5C6C2"/>
          </a:solidFill>
          <a:ln w="12700">
            <a:solidFill>
              <a:srgbClr val="F5C6C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96128" y="30723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32320" y="30723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16,067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96128" y="3401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TPV: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132320" y="340156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$1,601,618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96128" y="3730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(count):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32320" y="373075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596128" y="40599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(value):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132320" y="405993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596128" y="4389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benchmark: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132320" y="43891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4645152"/>
            <a:ext cx="8412480" cy="475488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" y="4645152"/>
            <a:ext cx="64008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2648" y="47000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32.1%, fraud exposure is 32x the industry benchmark. This is not a fraud spike — it is a structural failure in transaction controls.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75216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02920" y="94286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200400" cy="18288"/>
          </a:xfrm>
          <a:prstGeom prst="rect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700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 · Card type · Authentication method · Geography · Merchant category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66">
            <a:extLst>
              <a:ext uri="{FF2B5EF4-FFF2-40B4-BE49-F238E27FC236}">
                <a16:creationId xmlns:a16="http://schemas.microsoft.com/office/drawing/2014/main" id="{FF5D3A8A-E4E8-1D44-FABA-E9A694EDFC92}"/>
              </a:ext>
            </a:extLst>
          </p:cNvPr>
          <p:cNvSpPr/>
          <p:nvPr/>
        </p:nvSpPr>
        <p:spPr>
          <a:xfrm>
            <a:off x="3862736" y="4647309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9" name="Shape 66">
            <a:extLst>
              <a:ext uri="{FF2B5EF4-FFF2-40B4-BE49-F238E27FC236}">
                <a16:creationId xmlns:a16="http://schemas.microsoft.com/office/drawing/2014/main" id="{C15B4575-AF75-7092-6239-AF7C6DBEF7B7}"/>
              </a:ext>
            </a:extLst>
          </p:cNvPr>
          <p:cNvSpPr/>
          <p:nvPr/>
        </p:nvSpPr>
        <p:spPr>
          <a:xfrm>
            <a:off x="3862736" y="4410082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8" name="Shape 66">
            <a:extLst>
              <a:ext uri="{FF2B5EF4-FFF2-40B4-BE49-F238E27FC236}">
                <a16:creationId xmlns:a16="http://schemas.microsoft.com/office/drawing/2014/main" id="{8B0B3892-7F52-5C4C-BD7F-CB6F4D2F0DC6}"/>
              </a:ext>
            </a:extLst>
          </p:cNvPr>
          <p:cNvSpPr/>
          <p:nvPr/>
        </p:nvSpPr>
        <p:spPr>
          <a:xfrm>
            <a:off x="3862735" y="4172855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4" name="Shape 66">
            <a:extLst>
              <a:ext uri="{FF2B5EF4-FFF2-40B4-BE49-F238E27FC236}">
                <a16:creationId xmlns:a16="http://schemas.microsoft.com/office/drawing/2014/main" id="{B2159B99-E744-9C6E-3599-9D94ADF006CD}"/>
              </a:ext>
            </a:extLst>
          </p:cNvPr>
          <p:cNvSpPr/>
          <p:nvPr/>
        </p:nvSpPr>
        <p:spPr>
          <a:xfrm>
            <a:off x="3862736" y="3935629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3" name="Shape 66">
            <a:extLst>
              <a:ext uri="{FF2B5EF4-FFF2-40B4-BE49-F238E27FC236}">
                <a16:creationId xmlns:a16="http://schemas.microsoft.com/office/drawing/2014/main" id="{1EDC4D12-2AB8-019B-B432-AA7E3A003614}"/>
              </a:ext>
            </a:extLst>
          </p:cNvPr>
          <p:cNvSpPr/>
          <p:nvPr/>
        </p:nvSpPr>
        <p:spPr>
          <a:xfrm>
            <a:off x="3862736" y="3698403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8" name="Shape 66">
            <a:extLst>
              <a:ext uri="{FF2B5EF4-FFF2-40B4-BE49-F238E27FC236}">
                <a16:creationId xmlns:a16="http://schemas.microsoft.com/office/drawing/2014/main" id="{62ED11B6-78B5-341F-85B4-3A7751BD0213}"/>
              </a:ext>
            </a:extLst>
          </p:cNvPr>
          <p:cNvSpPr/>
          <p:nvPr/>
        </p:nvSpPr>
        <p:spPr>
          <a:xfrm>
            <a:off x="962104" y="3924846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9" name="Shape 66">
            <a:extLst>
              <a:ext uri="{FF2B5EF4-FFF2-40B4-BE49-F238E27FC236}">
                <a16:creationId xmlns:a16="http://schemas.microsoft.com/office/drawing/2014/main" id="{DDC36AE8-BC0C-27D1-D4C1-624E0AB5E6C8}"/>
              </a:ext>
            </a:extLst>
          </p:cNvPr>
          <p:cNvSpPr/>
          <p:nvPr/>
        </p:nvSpPr>
        <p:spPr>
          <a:xfrm>
            <a:off x="962104" y="4162073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0" name="Shape 66">
            <a:extLst>
              <a:ext uri="{FF2B5EF4-FFF2-40B4-BE49-F238E27FC236}">
                <a16:creationId xmlns:a16="http://schemas.microsoft.com/office/drawing/2014/main" id="{E4CF17E7-9B94-DFD4-B007-B6D18A6CAEF3}"/>
              </a:ext>
            </a:extLst>
          </p:cNvPr>
          <p:cNvSpPr/>
          <p:nvPr/>
        </p:nvSpPr>
        <p:spPr>
          <a:xfrm>
            <a:off x="962103" y="4399299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1" name="Shape 66">
            <a:extLst>
              <a:ext uri="{FF2B5EF4-FFF2-40B4-BE49-F238E27FC236}">
                <a16:creationId xmlns:a16="http://schemas.microsoft.com/office/drawing/2014/main" id="{BA5AF4DC-B038-2389-C36A-C2CABC6961E6}"/>
              </a:ext>
            </a:extLst>
          </p:cNvPr>
          <p:cNvSpPr/>
          <p:nvPr/>
        </p:nvSpPr>
        <p:spPr>
          <a:xfrm>
            <a:off x="962103" y="4647309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411480" y="292608"/>
            <a:ext cx="73152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784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SEGMENT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Uniformly Distributed — No Segment Is Driving It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41248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26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16,779 txns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51321" y="1423186"/>
            <a:ext cx="2027208" cy="285103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2104" y="1423186"/>
            <a:ext cx="745236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8860" y="1444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32.2%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883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0848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16,581 txns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62104" y="1880386"/>
            <a:ext cx="2027208" cy="285103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1321" y="1891169"/>
            <a:ext cx="731520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95144" y="1901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31.7%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340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5420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16,640 txns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51321" y="2337586"/>
            <a:ext cx="2027208" cy="285103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2104" y="2348369"/>
            <a:ext cx="729234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92858" y="2359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32.6%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46120" y="11704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TYPE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46120" y="1426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1573717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12,328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93791" y="1455535"/>
            <a:ext cx="2005642" cy="285103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3791" y="1466318"/>
            <a:ext cx="742950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1214" y="1444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32.6%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46120" y="1883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2030917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12,419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883008" y="1901952"/>
            <a:ext cx="2005642" cy="295886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72225" y="1901952"/>
            <a:ext cx="740664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1901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2340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46120" y="247733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12,693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872225" y="2348369"/>
            <a:ext cx="2005642" cy="2743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72225" y="2359152"/>
            <a:ext cx="726948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5212" y="2359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32.0%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246120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46120" y="2945317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12,560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872225" y="2794786"/>
            <a:ext cx="2005642" cy="306669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83008" y="2816352"/>
            <a:ext cx="729234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7498" y="2816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31.7%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1170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METHOD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989320" y="1426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89320" y="1573717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12,366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29161" y="1444752"/>
            <a:ext cx="1828800" cy="2743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39944" y="1444752"/>
            <a:ext cx="594360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35824" y="1444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89320" y="1883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89320" y="2030917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12,457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550727" y="1901952"/>
            <a:ext cx="1828800" cy="2743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50727" y="1901952"/>
            <a:ext cx="592531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33995" y="1901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89320" y="2340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989320" y="2488117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12,591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  <a:endParaRPr lang="en-US" sz="75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561510" y="2359152"/>
            <a:ext cx="1828800" cy="2743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50727" y="2359152"/>
            <a:ext cx="587045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28509" y="2359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32.6%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989320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89320" y="2945317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12,586 </a:t>
            </a:r>
            <a:r>
              <a:rPr lang="en-US" sz="7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txns</a:t>
            </a:r>
          </a:p>
        </p:txBody>
      </p:sp>
      <p:sp>
        <p:nvSpPr>
          <p:cNvPr id="61" name="Shape 59"/>
          <p:cNvSpPr/>
          <p:nvPr/>
        </p:nvSpPr>
        <p:spPr>
          <a:xfrm>
            <a:off x="6561510" y="2816352"/>
            <a:ext cx="1828800" cy="2743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61510" y="2816352"/>
            <a:ext cx="577901" cy="27432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19365" y="2816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31.3%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1480" y="3310128"/>
            <a:ext cx="841248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11480" y="3712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62104" y="3687620"/>
            <a:ext cx="2027208" cy="20962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1321" y="3698403"/>
            <a:ext cx="753733" cy="220405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306574" y="366605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33.0%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11480" y="394598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11480" y="41148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306574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11480" y="4168715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11480" y="4315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297430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31.4%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411480" y="4402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45171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295144" y="43773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32.5%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11480" y="463574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11480" y="47183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286000" y="46216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3246120" y="3429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CATEGORY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3246120" y="3712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246120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054072" y="366605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32.3%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3246120" y="394598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246120" y="41148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5048037" y="391035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32.4%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3246120" y="417949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3246120" y="4315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5044013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32.4%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3246120" y="4413015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3246120" y="45171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5039990" y="43773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32.7%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3246120" y="467888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3246120" y="47183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5035967" y="4632471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95057"/>
                </a:solidFill>
                <a:latin typeface="Calibri"/>
                <a:ea typeface="Calibri"/>
                <a:cs typeface="Calibri"/>
              </a:rPr>
              <a:t>31.1%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5989320" y="3520181"/>
            <a:ext cx="2788920" cy="135331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89320" y="3498615"/>
            <a:ext cx="54864" cy="13533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144768" y="349300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Uniformity Signal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6144768" y="3885941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31.6% — 32.6%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1.0 percentage point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fraud is this evenly distributed across every dimension analyzed, the culprit is not in any segment. It is in the system itself.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465395" y="4900235"/>
            <a:ext cx="8315433" cy="2598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43829" y="4889452"/>
            <a:ext cx="42442" cy="2598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2648" y="4847269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segment — device, card, authentication, geography, merchant — shows the same ~32% fraud rate. Fraud is not concentrated anywhere. It is everywhere.</a:t>
            </a:r>
            <a:endParaRPr lang="en-US" sz="950" dirty="0"/>
          </a:p>
        </p:txBody>
      </p:sp>
      <p:sp>
        <p:nvSpPr>
          <p:cNvPr id="132" name="Shape 67">
            <a:extLst>
              <a:ext uri="{FF2B5EF4-FFF2-40B4-BE49-F238E27FC236}">
                <a16:creationId xmlns:a16="http://schemas.microsoft.com/office/drawing/2014/main" id="{6E076121-5FD3-E12E-F24C-90059D3884CF}"/>
              </a:ext>
            </a:extLst>
          </p:cNvPr>
          <p:cNvSpPr/>
          <p:nvPr/>
        </p:nvSpPr>
        <p:spPr>
          <a:xfrm>
            <a:off x="962104" y="3935629"/>
            <a:ext cx="710601" cy="198839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133" name="Shape 67">
            <a:extLst>
              <a:ext uri="{FF2B5EF4-FFF2-40B4-BE49-F238E27FC236}">
                <a16:creationId xmlns:a16="http://schemas.microsoft.com/office/drawing/2014/main" id="{11013E8C-76D3-5106-8C4E-3F58C19D13DD}"/>
              </a:ext>
            </a:extLst>
          </p:cNvPr>
          <p:cNvSpPr/>
          <p:nvPr/>
        </p:nvSpPr>
        <p:spPr>
          <a:xfrm>
            <a:off x="962104" y="4172855"/>
            <a:ext cx="710601" cy="198839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134" name="Shape 67">
            <a:extLst>
              <a:ext uri="{FF2B5EF4-FFF2-40B4-BE49-F238E27FC236}">
                <a16:creationId xmlns:a16="http://schemas.microsoft.com/office/drawing/2014/main" id="{A02C1639-F738-5158-A627-E14EBB7648A7}"/>
              </a:ext>
            </a:extLst>
          </p:cNvPr>
          <p:cNvSpPr/>
          <p:nvPr/>
        </p:nvSpPr>
        <p:spPr>
          <a:xfrm>
            <a:off x="972887" y="4399298"/>
            <a:ext cx="710601" cy="209622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135" name="Shape 67">
            <a:extLst>
              <a:ext uri="{FF2B5EF4-FFF2-40B4-BE49-F238E27FC236}">
                <a16:creationId xmlns:a16="http://schemas.microsoft.com/office/drawing/2014/main" id="{7C7EDF50-0974-33EA-25C5-A695483B677B}"/>
              </a:ext>
            </a:extLst>
          </p:cNvPr>
          <p:cNvSpPr/>
          <p:nvPr/>
        </p:nvSpPr>
        <p:spPr>
          <a:xfrm>
            <a:off x="962104" y="4658090"/>
            <a:ext cx="710601" cy="198839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84" name="Shape 67">
            <a:extLst>
              <a:ext uri="{FF2B5EF4-FFF2-40B4-BE49-F238E27FC236}">
                <a16:creationId xmlns:a16="http://schemas.microsoft.com/office/drawing/2014/main" id="{D10EB03E-C409-8A8E-337C-29CA55F6BDD0}"/>
              </a:ext>
            </a:extLst>
          </p:cNvPr>
          <p:cNvSpPr/>
          <p:nvPr/>
        </p:nvSpPr>
        <p:spPr>
          <a:xfrm>
            <a:off x="3873519" y="3687620"/>
            <a:ext cx="710601" cy="209622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88" name="Shape 67">
            <a:extLst>
              <a:ext uri="{FF2B5EF4-FFF2-40B4-BE49-F238E27FC236}">
                <a16:creationId xmlns:a16="http://schemas.microsoft.com/office/drawing/2014/main" id="{568BCD00-6730-DF18-881B-8B7A135E7271}"/>
              </a:ext>
            </a:extLst>
          </p:cNvPr>
          <p:cNvSpPr/>
          <p:nvPr/>
        </p:nvSpPr>
        <p:spPr>
          <a:xfrm>
            <a:off x="3884302" y="3924846"/>
            <a:ext cx="710601" cy="209622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89" name="Shape 67">
            <a:extLst>
              <a:ext uri="{FF2B5EF4-FFF2-40B4-BE49-F238E27FC236}">
                <a16:creationId xmlns:a16="http://schemas.microsoft.com/office/drawing/2014/main" id="{3AB3F878-A24C-FE94-9C63-07CD17B36929}"/>
              </a:ext>
            </a:extLst>
          </p:cNvPr>
          <p:cNvSpPr/>
          <p:nvPr/>
        </p:nvSpPr>
        <p:spPr>
          <a:xfrm>
            <a:off x="3873519" y="4162073"/>
            <a:ext cx="710601" cy="209622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124" name="Shape 67">
            <a:extLst>
              <a:ext uri="{FF2B5EF4-FFF2-40B4-BE49-F238E27FC236}">
                <a16:creationId xmlns:a16="http://schemas.microsoft.com/office/drawing/2014/main" id="{DF9E92A9-1931-CFE2-8BC0-A1B8AB0B334F}"/>
              </a:ext>
            </a:extLst>
          </p:cNvPr>
          <p:cNvSpPr/>
          <p:nvPr/>
        </p:nvSpPr>
        <p:spPr>
          <a:xfrm>
            <a:off x="3873519" y="4399299"/>
            <a:ext cx="710601" cy="209622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125" name="Shape 67">
            <a:extLst>
              <a:ext uri="{FF2B5EF4-FFF2-40B4-BE49-F238E27FC236}">
                <a16:creationId xmlns:a16="http://schemas.microsoft.com/office/drawing/2014/main" id="{4AE95813-F9EF-734B-A288-AA407F2B1C0A}"/>
              </a:ext>
            </a:extLst>
          </p:cNvPr>
          <p:cNvSpPr/>
          <p:nvPr/>
        </p:nvSpPr>
        <p:spPr>
          <a:xfrm>
            <a:off x="3884302" y="4647309"/>
            <a:ext cx="635120" cy="209622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4433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02920" y="9428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Investigation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200400" cy="18288"/>
          </a:xfrm>
          <a:prstGeom prst="rect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700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risk engine detect fraud? And if so, why isn't it stopping it?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201168"/>
          </a:xfrm>
          <a:prstGeom prst="rect">
            <a:avLst/>
          </a:prstGeom>
          <a:solidFill>
            <a:srgbClr val="212529"/>
          </a:solidFill>
          <a:ln w="12700">
            <a:solidFill>
              <a:srgbClr val="2125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784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RISK SCORE INVESTIGATION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Model Works. The Business Is Not Using It Properly.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41248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33472" cy="2011680"/>
          </a:xfrm>
          <a:prstGeom prst="rect">
            <a:avLst/>
          </a:prstGeom>
          <a:solidFill>
            <a:srgbClr val="EDF7F1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2633472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19,887 transactions · 3,963 fraudulent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2331720" cy="18288"/>
          </a:xfrm>
          <a:prstGeom prst="rect">
            <a:avLst/>
          </a:prstGeom>
          <a:solidFill>
            <a:srgbClr val="1A6B3C">
              <a:alpha val="30000"/>
            </a:srgbClr>
          </a:solidFill>
          <a:ln w="12700">
            <a:solidFill>
              <a:srgbClr val="1A6B3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188720"/>
            <a:ext cx="2633472" cy="20116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1188720"/>
            <a:ext cx="263347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2984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64992" y="15087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0.4 - 0.8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64992" y="1737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364992" y="2359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26060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20,043 transactions · 3,999 fraudulent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64992" y="2852928"/>
            <a:ext cx="2331720" cy="18288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4184" y="1188720"/>
            <a:ext cx="2633472" cy="2011680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4184" y="1188720"/>
            <a:ext cx="263347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12984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81344" y="15087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81344" y="1737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80.5%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181344" y="2359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81344" y="26060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10,070 transactions · 8,105 fraudulent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81344" y="2852928"/>
            <a:ext cx="2331720" cy="18288"/>
          </a:xfrm>
          <a:prstGeom prst="rect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1682" y="1810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52465" y="21579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" y="3246120"/>
            <a:ext cx="8394192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364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Question: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362102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80% of high-risk transactions are fraud, and they are spread throughout the system — why are they not being blocked?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3364992"/>
            <a:ext cx="2359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401568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problem.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decisioning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4462272"/>
            <a:ext cx="8412480" cy="475488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462272"/>
            <a:ext cx="64008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45171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model demonstrates strong predictive power (80.5% fraud at high risk). The failure is enforcement — high-risk transactions are being approved instead of blocked.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4433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02920" y="91051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Lifecycle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200400" cy="18288"/>
          </a:xfrm>
          <a:prstGeom prst="rect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700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fraud rate change as users mature? Or is it uniform throughout the lifecycle?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784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COHORT LIFECYCLE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Is Consistent Across the Entire User Lifecycle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41248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FRAUD RATE BY COHORT INDEX (MONTHS SINCE FIRST TRANSACTION)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685800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60320"/>
            <a:ext cx="6858000" cy="13716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131820"/>
            <a:ext cx="6858000" cy="9144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" y="30403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6858000" cy="9144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" y="2468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" y="1988820"/>
            <a:ext cx="6858000" cy="9144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18973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8428" y="2446020"/>
            <a:ext cx="316523" cy="125730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708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35966" y="2617470"/>
            <a:ext cx="316523" cy="1085850"/>
          </a:xfrm>
          <a:prstGeom prst="rect">
            <a:avLst/>
          </a:prstGeom>
          <a:solidFill>
            <a:srgbClr val="0D6E63">
              <a:alpha val="60000"/>
            </a:srgbClr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0246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663505" y="2388870"/>
            <a:ext cx="316523" cy="131445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17785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191043" y="2703195"/>
            <a:ext cx="316523" cy="1000125"/>
          </a:xfrm>
          <a:prstGeom prst="rect">
            <a:avLst/>
          </a:prstGeom>
          <a:solidFill>
            <a:srgbClr val="0D6E63">
              <a:alpha val="60000"/>
            </a:srgbClr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5323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18582" y="2331720"/>
            <a:ext cx="316523" cy="137160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2862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46120" y="2588895"/>
            <a:ext cx="316523" cy="1114425"/>
          </a:xfrm>
          <a:prstGeom prst="rect">
            <a:avLst/>
          </a:prstGeom>
          <a:solidFill>
            <a:srgbClr val="0D6E63">
              <a:alpha val="60000"/>
            </a:srgbClr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73658" y="2503170"/>
            <a:ext cx="316523" cy="120015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7938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01197" y="2417445"/>
            <a:ext cx="316523" cy="1285875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5477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28735" y="2646045"/>
            <a:ext cx="316523" cy="1057275"/>
          </a:xfrm>
          <a:prstGeom prst="rect">
            <a:avLst/>
          </a:prstGeom>
          <a:solidFill>
            <a:srgbClr val="0D6E63">
              <a:alpha val="60000"/>
            </a:srgbClr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3015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356274" y="2474595"/>
            <a:ext cx="316523" cy="1228725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10554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83812" y="2531745"/>
            <a:ext cx="316523" cy="1171575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8092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11351" y="2731770"/>
            <a:ext cx="316523" cy="971550"/>
          </a:xfrm>
          <a:prstGeom prst="rect">
            <a:avLst/>
          </a:prstGeom>
          <a:solidFill>
            <a:srgbClr val="0D6E63">
              <a:alpha val="60000"/>
            </a:srgbClr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5631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938889" y="2903220"/>
            <a:ext cx="316523" cy="800100"/>
          </a:xfrm>
          <a:prstGeom prst="rect">
            <a:avLst/>
          </a:prstGeom>
          <a:solidFill>
            <a:srgbClr val="0D6E63">
              <a:alpha val="60000"/>
            </a:srgbClr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3169" y="3749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650" dirty="0">
              <a:solidFill>
                <a:srgbClr val="000000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7543800" y="138988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Findings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16368" y="1664208"/>
            <a:ext cx="12984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170992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589520" y="182880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 - 32.8%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16368" y="2029968"/>
            <a:ext cx="1298448" cy="3200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207568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589520" y="219456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ppts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16368" y="2395728"/>
            <a:ext cx="12984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244144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589520" y="25603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lifecycle trend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516368" y="2761488"/>
            <a:ext cx="1298448" cy="3200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0" y="278564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589520" y="292608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fraud rate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516368" y="3127248"/>
            <a:ext cx="12984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0" y="31729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users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589520" y="329184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fraud rate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1480" y="3950208"/>
            <a:ext cx="26334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3950208"/>
            <a:ext cx="54864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072" y="4041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User Problem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76072" y="4283619"/>
            <a:ext cx="2359152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" y="4353493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cohorts (month 0) show the same ~32% rate as mature cohorts. Fraud is not driven by onboarding weaknesses.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227832" y="3950208"/>
            <a:ext cx="26334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27832" y="3950208"/>
            <a:ext cx="54864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92424" y="4041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Loyalty Problem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392424" y="4283619"/>
            <a:ext cx="2359152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92424" y="4353493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 users do not become safer over time. Fraud persists regardless of user history or relationship age.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44184" y="3950208"/>
            <a:ext cx="26334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44184" y="3950208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08776" y="4041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Exposure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208776" y="4283619"/>
            <a:ext cx="2359152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08776" y="434271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fraud rate across all cohort indexes confirms the issue is platform-level — not user-segment-specific.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727310" y="239339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 baseline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5365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02920" y="9320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200400" cy="18288"/>
          </a:xfrm>
          <a:prstGeom prst="rect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700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· Revenue integrity · Operational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784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DIAGNOSIS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Diagnosis: A Decisioning Failure, Not a Detection Failure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41248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UNIFORMITY SUMMARY — EVERY DIMENSION ANALYZED</a:t>
            </a:r>
            <a:endParaRPr lang="en-US" sz="750" dirty="0">
              <a:solidFill>
                <a:srgbClr val="000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8394192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87752" y="14264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72584" y="14264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Range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57416" y="14264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83941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Category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87752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72584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 - 32.6%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57416" y="1719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cause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1965960"/>
            <a:ext cx="8394192" cy="292608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20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87752" y="2020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72584" y="2020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 - 32.5%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57416" y="2020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cause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267712"/>
            <a:ext cx="83941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322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Method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87752" y="2322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72584" y="2322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 - 32.5%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57416" y="2322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cause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2569464"/>
            <a:ext cx="8394192" cy="292608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624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87752" y="2624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72584" y="2624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31.9% - 32.6%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57416" y="26243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cause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2871216"/>
            <a:ext cx="83941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926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Type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87752" y="2926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72584" y="2926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31.8% - 32.5%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57416" y="2926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cause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3172968"/>
            <a:ext cx="8394192" cy="292608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27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Lifecycle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587752" y="3227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72584" y="3227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 - 32.8%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57416" y="3227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cause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" y="3474720"/>
            <a:ext cx="8394192" cy="292608"/>
          </a:xfrm>
          <a:prstGeom prst="rect">
            <a:avLst/>
          </a:prstGeom>
          <a:solidFill>
            <a:srgbClr val="EDF7F1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5295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587752" y="35295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PREDICTIVE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72584" y="35295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 - 80.5%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57416" y="3529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EXISTS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3895344"/>
            <a:ext cx="8394192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DIAGNOSIS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94360" y="41879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strong fraud detection capabilities, the system exhibited a ~32% fraud exposure rate due to ineffective enforcement of risk signals. This is a systemic control failure at the transaction decisioning layer — not a localized risk pocket problem.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3950208"/>
            <a:ext cx="173736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986784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TPV Volume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Revenue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784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RECOMMENDATIONS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Recommendations to Fix the Decisioning Gap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41248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8394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54864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292608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2801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Transaction Decisioning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High-risk transactions identified but approved. The risk model works — enforcement doesn't.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1847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automated decision rules tied directly to risk bands: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26280" y="1298448"/>
            <a:ext cx="4160520" cy="2377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1673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71032" y="131673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324344" y="131673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26280" y="1554480"/>
            <a:ext cx="4160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6002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(score &lt; 0.4)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71032" y="16002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324344" y="16002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19,887 txns — frictionless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26280" y="1828800"/>
            <a:ext cx="4160520" cy="25603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8745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(0.4-0.8)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71032" y="18745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auth (OTP + review)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324344" y="18745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20,043 txns — friction added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26280" y="2103120"/>
            <a:ext cx="4160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1488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(score &gt; 0.8)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71032" y="21488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Auto-decline or manual review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24344" y="21488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10,070 txns — blocked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66928" y="2633472"/>
            <a:ext cx="8092440" cy="219456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651760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Estimated fraud reduction: from 32.1% toward &lt;5%. Revenue quality improvement immediate.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063240"/>
            <a:ext cx="8394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063240"/>
            <a:ext cx="54864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3154680"/>
            <a:ext cx="292608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1546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" y="31546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Risk-Triggered Authentication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3447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All authentication methods show ~32% fraud rate — static authentication is equally ineffective across the board.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6928" y="3721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universal authentication with risk-calibrated authentication: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26280" y="3172968"/>
            <a:ext cx="4160520" cy="2377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1912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71032" y="31912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324344" y="31912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26280" y="3429000"/>
            <a:ext cx="4160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34747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971032" y="34747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checkout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24344" y="34747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conversion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26280" y="3703320"/>
            <a:ext cx="4160520" cy="256032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37490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971032" y="37490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324344" y="37490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friction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26280" y="3977640"/>
            <a:ext cx="4160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40233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71032" y="40233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+ OTP + review queue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324344" y="40233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protection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66928" y="4507992"/>
            <a:ext cx="8092440" cy="219456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4526280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Better customer experience for safe users. Stronger protection where it matters most.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784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RECOMMENDATIONS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Controls &amp; Establishing Revenue Integrity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412480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83941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54864" cy="1874520"/>
          </a:xfrm>
          <a:prstGeom prst="rect">
            <a:avLst/>
          </a:prstGeom>
          <a:solidFill>
            <a:srgbClr val="0D6E63"/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292608" cy="237744"/>
          </a:xfrm>
          <a:prstGeom prst="rect">
            <a:avLst/>
          </a:prstGeom>
          <a:solidFill>
            <a:srgbClr val="0D6E63"/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2801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Controls Over User-Level Blocking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591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Fraud is distributed across users — not concentrated in isolated bad actors. Simple blacklisting cannot solve a system-wide pattern.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1901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Focus controls at the transaction level, not the user level: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139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Transaction behavior analysis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33472" y="20965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 patterns per transaction — amount spikes, timing anomalies, velocity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66928" y="2340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Velocity checks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33472" y="2330081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transaction frequency per user/device/IP in rolling time windows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566928" y="2542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Adaptive risk scoring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22689" y="2552815"/>
            <a:ext cx="1896086" cy="172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risk scores dynamically based on real-time session behavior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66928" y="2743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Anomaly detection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22689" y="2764766"/>
            <a:ext cx="1896086" cy="150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flagging of transactions deviating significantly from user baseline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645152" y="1229523"/>
            <a:ext cx="4041648" cy="1664208"/>
          </a:xfrm>
          <a:prstGeom prst="rect">
            <a:avLst/>
          </a:prstGeom>
          <a:solidFill>
            <a:srgbClr val="E6F4F2"/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353312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User Blocking Fails Here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1609344"/>
            <a:ext cx="3767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is ~32% across ALL users — new and returning.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blocking individual 'bad users' would require blocking a third of the entire user base.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not in who is transacting. It is in how transactions are being processed and approved.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" y="2976717"/>
            <a:ext cx="8092440" cy="201168"/>
          </a:xfrm>
          <a:prstGeom prst="rect">
            <a:avLst/>
          </a:prstGeom>
          <a:solidFill>
            <a:srgbClr val="E6F4F2"/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005788"/>
            <a:ext cx="7909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More scalable fraud prevention. Reduced false positives. Better long-term fraud resilience.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3291840"/>
            <a:ext cx="8394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291840"/>
            <a:ext cx="54864" cy="1417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3383280"/>
            <a:ext cx="292608" cy="23774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832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38328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Revenue Integrity Function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3675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Revenue growth and fraud management are operating independently. TPV is the primary success metric — masking the true quality of revenue.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3401568"/>
            <a:ext cx="1234440" cy="274320"/>
          </a:xfrm>
          <a:prstGeom prst="rect">
            <a:avLst/>
          </a:prstGeom>
          <a:solidFill>
            <a:srgbClr val="F5F3FF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4015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Operations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71032" y="3401568"/>
            <a:ext cx="1234440" cy="274320"/>
          </a:xfrm>
          <a:prstGeom prst="rect">
            <a:avLst/>
          </a:prstGeom>
          <a:solidFill>
            <a:srgbClr val="F5F3FF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71032" y="34015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24344" y="3401568"/>
            <a:ext cx="1234440" cy="274320"/>
          </a:xfrm>
          <a:prstGeom prst="rect">
            <a:avLst/>
          </a:prstGeom>
          <a:solidFill>
            <a:srgbClr val="F5F3FF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24344" y="34015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Fraud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17720" y="3749040"/>
            <a:ext cx="1234440" cy="274320"/>
          </a:xfrm>
          <a:prstGeom prst="rect">
            <a:avLst/>
          </a:prstGeom>
          <a:solidFill>
            <a:srgbClr val="F5F3FF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71032" y="3749040"/>
            <a:ext cx="1234440" cy="274320"/>
          </a:xfrm>
          <a:prstGeom prst="rect">
            <a:avLst/>
          </a:prstGeom>
          <a:solidFill>
            <a:srgbClr val="F5F3FF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71032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66928" y="39867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Balancing growth with revenue quality — not just maximizing TPV.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6928" y="4553712"/>
            <a:ext cx="8092440" cy="201168"/>
          </a:xfrm>
          <a:prstGeom prst="rect">
            <a:avLst/>
          </a:prstGeom>
          <a:solidFill>
            <a:srgbClr val="F5F3FF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572000"/>
            <a:ext cx="7909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Better strategic coordination between revenue and risk. Reduced leakage. Sustainable monetization growth.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389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2926080" cy="18288"/>
          </a:xfrm>
          <a:prstGeom prst="rect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901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benchmark: &lt;1%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 Fraud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7249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 of total TPV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33649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Fraud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5478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works — enforcement doesn't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37947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41879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Across Segments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3708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everywhere — not somewhere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4736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Bitrus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Operations &amp; Payments Analyst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77640" y="384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77640" y="713232"/>
            <a:ext cx="4828032" cy="18288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877824"/>
            <a:ext cx="4828032" cy="7315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877824"/>
            <a:ext cx="64008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33088" y="950976"/>
            <a:ext cx="731520" cy="1828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33088" y="9509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956048" y="95097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model works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33088" y="1207008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80.5% fraud rate at high risk scores proves the detection engine is functioning correctly. The problem is downstream — in what happens after detection.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77640" y="1700784"/>
            <a:ext cx="4828032" cy="7315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1700784"/>
            <a:ext cx="6400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33088" y="1773936"/>
            <a:ext cx="73152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33088" y="1773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956048" y="177393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is broken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33088" y="2029968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transactions continue flowing through. The decisioning layer between risk detection and transaction approval is either missing or bypassed entirely.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77640" y="2523744"/>
            <a:ext cx="4828032" cy="7315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2523744"/>
            <a:ext cx="64008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33088" y="2596896"/>
            <a:ext cx="7315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33088" y="25968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956048" y="259689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 is the signal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33088" y="2852928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 fraud across every segment and every cohort index means no segment or user group is the culprit. This is systemic — requiring a platform-level fix.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77640" y="3346704"/>
            <a:ext cx="4828032" cy="73152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3346704"/>
            <a:ext cx="64008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33088" y="3419856"/>
            <a:ext cx="731520" cy="182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33088" y="34198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956048" y="341985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volume, not quality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33088" y="3675888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maximizing TPV at the expense of revenue quality. Every transaction that passes through — regardless of risk — counts as growth. That is false growth.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977640" y="4169664"/>
            <a:ext cx="4828032" cy="731520"/>
          </a:xfrm>
          <a:prstGeom prst="rect">
            <a:avLst/>
          </a:prstGeom>
          <a:solidFill>
            <a:srgbClr val="E6F4F2"/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77640" y="4169664"/>
            <a:ext cx="64008" cy="731520"/>
          </a:xfrm>
          <a:prstGeom prst="rect">
            <a:avLst/>
          </a:prstGeom>
          <a:solidFill>
            <a:srgbClr val="0D6E63"/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33088" y="4242816"/>
            <a:ext cx="731520" cy="182880"/>
          </a:xfrm>
          <a:prstGeom prst="rect">
            <a:avLst/>
          </a:prstGeom>
          <a:solidFill>
            <a:srgbClr val="0D6E63"/>
          </a:solidFill>
          <a:ln w="12700">
            <a:solidFill>
              <a:srgbClr val="0D6E6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33088" y="42428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956048" y="424281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fixes, immediate impact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133088" y="4498848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decisioning alone — auto-declining high-risk transactions — could reduce fraud from 32.1% toward single digits. The detection capability already exists.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Fraud Exposure Analysis</dc:title>
  <dc:subject>PptxGenJS Presentation</dc:subject>
  <dc:creator>Emmanuel Bitrus</dc:creator>
  <cp:lastModifiedBy>Emmanuel Bitrus</cp:lastModifiedBy>
  <cp:revision>377</cp:revision>
  <dcterms:created xsi:type="dcterms:W3CDTF">2026-05-26T07:47:42Z</dcterms:created>
  <dcterms:modified xsi:type="dcterms:W3CDTF">2026-05-30T23:03:10Z</dcterms:modified>
</cp:coreProperties>
</file>